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Inter SemiBold"/>
      <p:regular r:id="rId9"/>
      <p:bold r:id="rId10"/>
      <p:italic r:id="rId11"/>
      <p:boldItalic r:id="rId12"/>
    </p:embeddedFont>
    <p:embeddedFont>
      <p:font typeface="Inter"/>
      <p:regular r:id="rId13"/>
      <p:bold r:id="rId14"/>
      <p:italic r:id="rId15"/>
      <p:boldItalic r:id="rId16"/>
    </p:embeddedFont>
    <p:embeddedFont>
      <p:font typeface="Montserrat"/>
      <p:regular r:id="rId17"/>
      <p:bold r:id="rId18"/>
      <p:italic r:id="rId19"/>
      <p:boldItalic r:id="rId20"/>
    </p:embeddedFont>
    <p:embeddedFont>
      <p:font typeface="Inter Medium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font" Target="fonts/InterSemiBold-italic.fntdata"/><Relationship Id="rId22" Type="http://schemas.openxmlformats.org/officeDocument/2006/relationships/font" Target="fonts/InterMedium-bold.fntdata"/><Relationship Id="rId10" Type="http://schemas.openxmlformats.org/officeDocument/2006/relationships/font" Target="fonts/InterSemiBold-bold.fntdata"/><Relationship Id="rId21" Type="http://schemas.openxmlformats.org/officeDocument/2006/relationships/font" Target="fonts/InterMedium-regular.fntdata"/><Relationship Id="rId13" Type="http://schemas.openxmlformats.org/officeDocument/2006/relationships/font" Target="fonts/Inter-regular.fntdata"/><Relationship Id="rId24" Type="http://schemas.openxmlformats.org/officeDocument/2006/relationships/font" Target="fonts/InterMedium-boldItalic.fntdata"/><Relationship Id="rId12" Type="http://schemas.openxmlformats.org/officeDocument/2006/relationships/font" Target="fonts/InterSemiBold-boldItalic.fntdata"/><Relationship Id="rId23" Type="http://schemas.openxmlformats.org/officeDocument/2006/relationships/font" Target="fonts/Inter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SemiBold-regular.fntdata"/><Relationship Id="rId15" Type="http://schemas.openxmlformats.org/officeDocument/2006/relationships/font" Target="fonts/Inter-italic.fntdata"/><Relationship Id="rId14" Type="http://schemas.openxmlformats.org/officeDocument/2006/relationships/font" Target="fonts/Inter-bold.fntdata"/><Relationship Id="rId17" Type="http://schemas.openxmlformats.org/officeDocument/2006/relationships/font" Target="fonts/Montserrat-regular.fntdata"/><Relationship Id="rId16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4f551692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4f551692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dd4d77c7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7dd4d77c7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25dd32018_0_5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425dd32018_0_5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425dd32018_0_5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ver_1">
  <p:cSld name="2_Cov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2" title="LTC_Logo_FA_Color_RGB-01.png"/>
          <p:cNvPicPr preferRelativeResize="0"/>
          <p:nvPr/>
        </p:nvPicPr>
        <p:blipFill rotWithShape="1">
          <a:blip r:embed="rId3">
            <a:alphaModFix/>
          </a:blip>
          <a:srcRect b="23691" l="9586" r="9932" t="23165"/>
          <a:stretch/>
        </p:blipFill>
        <p:spPr>
          <a:xfrm>
            <a:off x="413150" y="1368725"/>
            <a:ext cx="1314028" cy="35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"/>
          <p:cNvSpPr txBox="1"/>
          <p:nvPr>
            <p:ph type="title"/>
          </p:nvPr>
        </p:nvSpPr>
        <p:spPr>
          <a:xfrm>
            <a:off x="410906" y="2189175"/>
            <a:ext cx="4161000" cy="9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 Medium"/>
              <a:buNone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2"/>
          <p:cNvSpPr txBox="1"/>
          <p:nvPr>
            <p:ph idx="1" type="subTitle"/>
          </p:nvPr>
        </p:nvSpPr>
        <p:spPr>
          <a:xfrm>
            <a:off x="413156" y="3131475"/>
            <a:ext cx="4019400" cy="48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"/>
          <p:cNvSpPr txBox="1"/>
          <p:nvPr/>
        </p:nvSpPr>
        <p:spPr>
          <a:xfrm>
            <a:off x="395472" y="4789875"/>
            <a:ext cx="1843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B81A7"/>
                </a:solidFill>
                <a:latin typeface="Inter"/>
                <a:ea typeface="Inter"/>
                <a:cs typeface="Inter"/>
                <a:sym typeface="Inter"/>
              </a:rPr>
              <a:t>HIGHLY CONFIDENTIAL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7101137" y="4789883"/>
            <a:ext cx="129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B81A7"/>
                </a:solidFill>
                <a:latin typeface="Inter"/>
                <a:ea typeface="Inter"/>
                <a:cs typeface="Inter"/>
                <a:sym typeface="Inter"/>
              </a:rPr>
              <a:t>© 2025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083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ver_1">
  <p:cSld name="1_Cov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 txBox="1"/>
          <p:nvPr>
            <p:ph type="title"/>
          </p:nvPr>
        </p:nvSpPr>
        <p:spPr>
          <a:xfrm>
            <a:off x="410906" y="2189175"/>
            <a:ext cx="4161000" cy="9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 Medium"/>
              <a:buNone/>
              <a:defRPr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3"/>
          <p:cNvSpPr txBox="1"/>
          <p:nvPr>
            <p:ph idx="1" type="subTitle"/>
          </p:nvPr>
        </p:nvSpPr>
        <p:spPr>
          <a:xfrm>
            <a:off x="413156" y="3131475"/>
            <a:ext cx="4019400" cy="48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3" title="LTC_Logo_FA_Color_RGB-01.png"/>
          <p:cNvPicPr preferRelativeResize="0"/>
          <p:nvPr/>
        </p:nvPicPr>
        <p:blipFill rotWithShape="1">
          <a:blip r:embed="rId3">
            <a:alphaModFix/>
          </a:blip>
          <a:srcRect b="23691" l="9586" r="9932" t="23165"/>
          <a:stretch/>
        </p:blipFill>
        <p:spPr>
          <a:xfrm>
            <a:off x="413150" y="1368725"/>
            <a:ext cx="1314028" cy="35035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3"/>
          <p:cNvSpPr txBox="1"/>
          <p:nvPr/>
        </p:nvSpPr>
        <p:spPr>
          <a:xfrm>
            <a:off x="7101137" y="4789883"/>
            <a:ext cx="129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B81A7"/>
                </a:solidFill>
                <a:latin typeface="Inter"/>
                <a:ea typeface="Inter"/>
                <a:cs typeface="Inter"/>
                <a:sym typeface="Inter"/>
              </a:rPr>
              <a:t>© 2025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" name="Google Shape;38;p3"/>
          <p:cNvSpPr txBox="1"/>
          <p:nvPr/>
        </p:nvSpPr>
        <p:spPr>
          <a:xfrm>
            <a:off x="395472" y="4789875"/>
            <a:ext cx="1843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B81A7"/>
                </a:solidFill>
                <a:latin typeface="Inter"/>
                <a:ea typeface="Inter"/>
                <a:cs typeface="Inter"/>
                <a:sym typeface="Inter"/>
              </a:rPr>
              <a:t>HIGHLY CONFIDENTIAL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3">
  <p:cSld name="Section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4" title="LTC_Logo_FA_Color_RGB-02.png"/>
          <p:cNvPicPr preferRelativeResize="0"/>
          <p:nvPr/>
        </p:nvPicPr>
        <p:blipFill rotWithShape="1">
          <a:blip r:embed="rId3">
            <a:alphaModFix/>
          </a:blip>
          <a:srcRect b="24549" l="9726" r="9823" t="23769"/>
          <a:stretch/>
        </p:blipFill>
        <p:spPr>
          <a:xfrm>
            <a:off x="410900" y="357250"/>
            <a:ext cx="789074" cy="204701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"/>
          <p:cNvSpPr txBox="1"/>
          <p:nvPr/>
        </p:nvSpPr>
        <p:spPr>
          <a:xfrm>
            <a:off x="7439480" y="287503"/>
            <a:ext cx="129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800" u="none" cap="none" strike="noStrike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www.ltcapital.partners</a:t>
            </a:r>
            <a:endParaRPr i="0" sz="800" u="none" cap="none" strike="noStrike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" name="Google Shape;42;p4"/>
          <p:cNvSpPr txBox="1"/>
          <p:nvPr>
            <p:ph type="title"/>
          </p:nvPr>
        </p:nvSpPr>
        <p:spPr>
          <a:xfrm>
            <a:off x="410906" y="2189175"/>
            <a:ext cx="4161000" cy="9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1" type="subTitle"/>
          </p:nvPr>
        </p:nvSpPr>
        <p:spPr>
          <a:xfrm>
            <a:off x="413156" y="3131475"/>
            <a:ext cx="4019400" cy="48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4" name="Google Shape;44;p4"/>
          <p:cNvSpPr txBox="1"/>
          <p:nvPr/>
        </p:nvSpPr>
        <p:spPr>
          <a:xfrm>
            <a:off x="7101137" y="4789883"/>
            <a:ext cx="129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© 2025</a:t>
            </a:r>
            <a:endParaRPr sz="11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395472" y="4789875"/>
            <a:ext cx="1843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HIGHLY CONFIDENTIAL</a:t>
            </a:r>
            <a:endParaRPr sz="11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_2">
  <p:cSld name="Cover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5" title="LTC_Logo_FA_Color_RGB-02.png"/>
          <p:cNvPicPr preferRelativeResize="0"/>
          <p:nvPr/>
        </p:nvPicPr>
        <p:blipFill rotWithShape="1">
          <a:blip r:embed="rId3">
            <a:alphaModFix/>
          </a:blip>
          <a:srcRect b="24549" l="9726" r="9823" t="23769"/>
          <a:stretch/>
        </p:blipFill>
        <p:spPr>
          <a:xfrm>
            <a:off x="410900" y="1377950"/>
            <a:ext cx="1315830" cy="34135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5"/>
          <p:cNvSpPr txBox="1"/>
          <p:nvPr>
            <p:ph type="title"/>
          </p:nvPr>
        </p:nvSpPr>
        <p:spPr>
          <a:xfrm>
            <a:off x="410906" y="2189175"/>
            <a:ext cx="4161000" cy="9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9" name="Google Shape;49;p5"/>
          <p:cNvSpPr txBox="1"/>
          <p:nvPr>
            <p:ph idx="1" type="subTitle"/>
          </p:nvPr>
        </p:nvSpPr>
        <p:spPr>
          <a:xfrm>
            <a:off x="413156" y="3131475"/>
            <a:ext cx="4019400" cy="48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0" name="Google Shape;50;p5"/>
          <p:cNvSpPr txBox="1"/>
          <p:nvPr/>
        </p:nvSpPr>
        <p:spPr>
          <a:xfrm>
            <a:off x="7101137" y="4789883"/>
            <a:ext cx="129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© 2025</a:t>
            </a:r>
            <a:endParaRPr sz="11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" name="Google Shape;51;p5"/>
          <p:cNvSpPr txBox="1"/>
          <p:nvPr/>
        </p:nvSpPr>
        <p:spPr>
          <a:xfrm>
            <a:off x="395472" y="4789875"/>
            <a:ext cx="1843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HIGHLY CONFIDENTIAL</a:t>
            </a:r>
            <a:endParaRPr sz="11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" name="Google Shape;52;p5"/>
          <p:cNvSpPr txBox="1"/>
          <p:nvPr/>
        </p:nvSpPr>
        <p:spPr>
          <a:xfrm>
            <a:off x="7439480" y="287503"/>
            <a:ext cx="129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800" u="none" cap="none" strike="noStrike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www.ltcapital.partners</a:t>
            </a:r>
            <a:endParaRPr i="0" sz="800" u="none" cap="none" strike="noStrike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Slide">
  <p:cSld name="4_Title Slide">
    <p:bg>
      <p:bgPr>
        <a:solidFill>
          <a:schemeClr val="dk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 txBox="1"/>
          <p:nvPr>
            <p:ph type="title"/>
          </p:nvPr>
        </p:nvSpPr>
        <p:spPr>
          <a:xfrm>
            <a:off x="410906" y="2189175"/>
            <a:ext cx="4161000" cy="9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5" name="Google Shape;55;p6"/>
          <p:cNvSpPr txBox="1"/>
          <p:nvPr>
            <p:ph idx="1" type="subTitle"/>
          </p:nvPr>
        </p:nvSpPr>
        <p:spPr>
          <a:xfrm>
            <a:off x="413156" y="3131475"/>
            <a:ext cx="4019400" cy="48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6" name="Google Shape;56;p6"/>
          <p:cNvSpPr txBox="1"/>
          <p:nvPr/>
        </p:nvSpPr>
        <p:spPr>
          <a:xfrm>
            <a:off x="7101137" y="4789883"/>
            <a:ext cx="129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© 2025</a:t>
            </a:r>
            <a:endParaRPr sz="11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" name="Google Shape;57;p6"/>
          <p:cNvSpPr txBox="1"/>
          <p:nvPr/>
        </p:nvSpPr>
        <p:spPr>
          <a:xfrm>
            <a:off x="395472" y="4789875"/>
            <a:ext cx="1843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HIGHLY CONFIDENTIAL</a:t>
            </a:r>
            <a:endParaRPr sz="11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" name="Google Shape;58;p6"/>
          <p:cNvSpPr txBox="1"/>
          <p:nvPr/>
        </p:nvSpPr>
        <p:spPr>
          <a:xfrm>
            <a:off x="7439480" y="287503"/>
            <a:ext cx="129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800" u="none" cap="none" strike="noStrike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www.ltcapital.partners</a:t>
            </a:r>
            <a:endParaRPr i="0" sz="800" u="none" cap="none" strike="noStrike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9" name="Google Shape;59;p6" title="LTC_Logo_FA_Color_RGB-02.png"/>
          <p:cNvPicPr preferRelativeResize="0"/>
          <p:nvPr/>
        </p:nvPicPr>
        <p:blipFill rotWithShape="1">
          <a:blip r:embed="rId2">
            <a:alphaModFix/>
          </a:blip>
          <a:srcRect b="24549" l="9726" r="9823" t="23769"/>
          <a:stretch/>
        </p:blipFill>
        <p:spPr>
          <a:xfrm>
            <a:off x="410900" y="357250"/>
            <a:ext cx="789074" cy="204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ontent Slides">
  <p:cSld name="3_Title Slid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/>
        </p:nvSpPr>
        <p:spPr>
          <a:xfrm>
            <a:off x="7439480" y="287503"/>
            <a:ext cx="129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www.ltcapital.partners</a:t>
            </a:r>
            <a:endParaRPr sz="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2" name="Google Shape;62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3147" y="4515228"/>
            <a:ext cx="8317705" cy="3668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/>
          <p:nvPr/>
        </p:nvSpPr>
        <p:spPr>
          <a:xfrm>
            <a:off x="4365848" y="4732733"/>
            <a:ext cx="129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7B81A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7"/>
          <p:cNvSpPr txBox="1"/>
          <p:nvPr/>
        </p:nvSpPr>
        <p:spPr>
          <a:xfrm>
            <a:off x="4633934" y="4732733"/>
            <a:ext cx="129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7B81A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B81A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7"/>
          <p:cNvSpPr txBox="1"/>
          <p:nvPr>
            <p:ph type="title"/>
          </p:nvPr>
        </p:nvSpPr>
        <p:spPr>
          <a:xfrm>
            <a:off x="413119" y="622969"/>
            <a:ext cx="8317800" cy="366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b="1" sz="23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b="1" sz="23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b="1" sz="23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b="1" sz="23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b="1" sz="23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b="1" sz="23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b="1" sz="23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b="1" sz="23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6" name="Google Shape;66;p7"/>
          <p:cNvSpPr txBox="1"/>
          <p:nvPr>
            <p:ph idx="1" type="subTitle"/>
          </p:nvPr>
        </p:nvSpPr>
        <p:spPr>
          <a:xfrm>
            <a:off x="413119" y="962081"/>
            <a:ext cx="8317800" cy="366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Inter SemiBold"/>
              <a:buNone/>
              <a:defRPr sz="11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 SemiBold"/>
              <a:buNone/>
              <a:defRPr sz="10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 SemiBold"/>
              <a:buNone/>
              <a:defRPr sz="10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 SemiBold"/>
              <a:buNone/>
              <a:defRPr sz="10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 SemiBold"/>
              <a:buNone/>
              <a:defRPr sz="10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 SemiBold"/>
              <a:buNone/>
              <a:defRPr sz="10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 SemiBold"/>
              <a:buNone/>
              <a:defRPr sz="10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 SemiBold"/>
              <a:buNone/>
              <a:defRPr sz="10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 SemiBold"/>
              <a:buNone/>
              <a:defRPr sz="10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67" name="Google Shape;67;p7"/>
          <p:cNvSpPr txBox="1"/>
          <p:nvPr>
            <p:ph idx="2" type="body"/>
          </p:nvPr>
        </p:nvSpPr>
        <p:spPr>
          <a:xfrm>
            <a:off x="432175" y="1456663"/>
            <a:ext cx="8297700" cy="28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solidFill>
                  <a:schemeClr val="dk1"/>
                </a:solidFill>
              </a:defRPr>
            </a:lvl1pPr>
            <a:lvl2pPr indent="-285750" lvl="1" marL="9144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solidFill>
                  <a:schemeClr val="dk1"/>
                </a:solidFill>
              </a:defRPr>
            </a:lvl2pPr>
            <a:lvl3pPr indent="-285750" lvl="2" marL="13716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solidFill>
                  <a:schemeClr val="dk1"/>
                </a:solidFill>
              </a:defRPr>
            </a:lvl3pPr>
            <a:lvl4pPr indent="-285750" lvl="3" marL="18288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solidFill>
                  <a:schemeClr val="dk1"/>
                </a:solidFill>
              </a:defRPr>
            </a:lvl4pPr>
            <a:lvl5pPr indent="-285750" lvl="4" marL="22860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solidFill>
                  <a:schemeClr val="dk1"/>
                </a:solidFill>
              </a:defRPr>
            </a:lvl5pPr>
            <a:lvl6pPr indent="-285750" lvl="5" marL="2743200"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9pPr>
          </a:lstStyle>
          <a:p/>
        </p:txBody>
      </p:sp>
      <p:sp>
        <p:nvSpPr>
          <p:cNvPr id="68" name="Google Shape;68;p7"/>
          <p:cNvSpPr txBox="1"/>
          <p:nvPr/>
        </p:nvSpPr>
        <p:spPr>
          <a:xfrm>
            <a:off x="7101137" y="4789883"/>
            <a:ext cx="129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B81A7"/>
                </a:solidFill>
                <a:latin typeface="Inter"/>
                <a:ea typeface="Inter"/>
                <a:cs typeface="Inter"/>
                <a:sym typeface="Inter"/>
              </a:rPr>
              <a:t>© 2025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" name="Google Shape;69;p7"/>
          <p:cNvSpPr txBox="1"/>
          <p:nvPr/>
        </p:nvSpPr>
        <p:spPr>
          <a:xfrm>
            <a:off x="395472" y="4789875"/>
            <a:ext cx="1843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B81A7"/>
                </a:solidFill>
                <a:latin typeface="Inter"/>
                <a:ea typeface="Inter"/>
                <a:cs typeface="Inter"/>
                <a:sym typeface="Inter"/>
              </a:rPr>
              <a:t>HIGHLY CONFIDENTIAL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0" name="Google Shape;70;p7" title="LTC_Logo_FA_Color_RGB-01.png"/>
          <p:cNvPicPr preferRelativeResize="0"/>
          <p:nvPr/>
        </p:nvPicPr>
        <p:blipFill rotWithShape="1">
          <a:blip r:embed="rId3">
            <a:alphaModFix/>
          </a:blip>
          <a:srcRect b="24811" l="9577" r="9940" t="21578"/>
          <a:stretch/>
        </p:blipFill>
        <p:spPr>
          <a:xfrm>
            <a:off x="413125" y="345075"/>
            <a:ext cx="804301" cy="21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918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378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ontent Slides 1">
  <p:cSld name="3_Title Slide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"/>
          <p:cNvSpPr txBox="1"/>
          <p:nvPr/>
        </p:nvSpPr>
        <p:spPr>
          <a:xfrm>
            <a:off x="7439480" y="287503"/>
            <a:ext cx="129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www.ltcapital.partners</a:t>
            </a:r>
            <a:endParaRPr sz="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3" name="Google Shape;73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3147" y="4515228"/>
            <a:ext cx="8317705" cy="36687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8"/>
          <p:cNvSpPr txBox="1"/>
          <p:nvPr/>
        </p:nvSpPr>
        <p:spPr>
          <a:xfrm>
            <a:off x="4365848" y="4732733"/>
            <a:ext cx="129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7B81A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8"/>
          <p:cNvSpPr txBox="1"/>
          <p:nvPr/>
        </p:nvSpPr>
        <p:spPr>
          <a:xfrm>
            <a:off x="4633934" y="4732733"/>
            <a:ext cx="129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7B81A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B81A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8"/>
          <p:cNvSpPr txBox="1"/>
          <p:nvPr/>
        </p:nvSpPr>
        <p:spPr>
          <a:xfrm>
            <a:off x="7101137" y="4789883"/>
            <a:ext cx="129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B81A7"/>
                </a:solidFill>
                <a:latin typeface="Inter"/>
                <a:ea typeface="Inter"/>
                <a:cs typeface="Inter"/>
                <a:sym typeface="Inter"/>
              </a:rPr>
              <a:t>© 2025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" name="Google Shape;77;p8"/>
          <p:cNvSpPr/>
          <p:nvPr>
            <p:ph idx="2" type="pic"/>
          </p:nvPr>
        </p:nvSpPr>
        <p:spPr>
          <a:xfrm>
            <a:off x="4706550" y="1452375"/>
            <a:ext cx="4038300" cy="28734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8"/>
          <p:cNvSpPr txBox="1"/>
          <p:nvPr>
            <p:ph idx="1" type="body"/>
          </p:nvPr>
        </p:nvSpPr>
        <p:spPr>
          <a:xfrm>
            <a:off x="432175" y="1452375"/>
            <a:ext cx="4005300" cy="287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solidFill>
                  <a:schemeClr val="dk1"/>
                </a:solidFill>
              </a:defRPr>
            </a:lvl1pPr>
            <a:lvl2pPr indent="-285750" lvl="1" marL="9144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solidFill>
                  <a:schemeClr val="dk1"/>
                </a:solidFill>
              </a:defRPr>
            </a:lvl2pPr>
            <a:lvl3pPr indent="-285750" lvl="2" marL="13716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solidFill>
                  <a:schemeClr val="dk1"/>
                </a:solidFill>
              </a:defRPr>
            </a:lvl3pPr>
            <a:lvl4pPr indent="-285750" lvl="3" marL="18288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solidFill>
                  <a:schemeClr val="dk1"/>
                </a:solidFill>
              </a:defRPr>
            </a:lvl4pPr>
            <a:lvl5pPr indent="-285750" lvl="4" marL="22860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solidFill>
                  <a:schemeClr val="dk1"/>
                </a:solidFill>
              </a:defRPr>
            </a:lvl5pPr>
            <a:lvl6pPr indent="-285750" lvl="5" marL="2743200"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9pPr>
          </a:lstStyle>
          <a:p/>
        </p:txBody>
      </p:sp>
      <p:pic>
        <p:nvPicPr>
          <p:cNvPr id="79" name="Google Shape;79;p8" title="LTC_Logo_FA_Color_RGB-01.png"/>
          <p:cNvPicPr preferRelativeResize="0"/>
          <p:nvPr/>
        </p:nvPicPr>
        <p:blipFill rotWithShape="1">
          <a:blip r:embed="rId3">
            <a:alphaModFix/>
          </a:blip>
          <a:srcRect b="24811" l="9577" r="9940" t="21578"/>
          <a:stretch/>
        </p:blipFill>
        <p:spPr>
          <a:xfrm>
            <a:off x="413125" y="345075"/>
            <a:ext cx="804301" cy="2163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8"/>
          <p:cNvSpPr txBox="1"/>
          <p:nvPr>
            <p:ph type="title"/>
          </p:nvPr>
        </p:nvSpPr>
        <p:spPr>
          <a:xfrm>
            <a:off x="413119" y="622969"/>
            <a:ext cx="8317800" cy="366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b="1" sz="23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b="1" sz="23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b="1" sz="23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b="1" sz="23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b="1" sz="23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b="1" sz="23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b="1" sz="23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b="1" sz="23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1" name="Google Shape;81;p8"/>
          <p:cNvSpPr txBox="1"/>
          <p:nvPr>
            <p:ph idx="3" type="subTitle"/>
          </p:nvPr>
        </p:nvSpPr>
        <p:spPr>
          <a:xfrm>
            <a:off x="413119" y="962081"/>
            <a:ext cx="8317800" cy="366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Inter SemiBold"/>
              <a:buNone/>
              <a:defRPr sz="11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 SemiBold"/>
              <a:buNone/>
              <a:defRPr sz="10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 SemiBold"/>
              <a:buNone/>
              <a:defRPr sz="10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 SemiBold"/>
              <a:buNone/>
              <a:defRPr sz="10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 SemiBold"/>
              <a:buNone/>
              <a:defRPr sz="10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 SemiBold"/>
              <a:buNone/>
              <a:defRPr sz="10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 SemiBold"/>
              <a:buNone/>
              <a:defRPr sz="10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 SemiBold"/>
              <a:buNone/>
              <a:defRPr sz="10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 SemiBold"/>
              <a:buNone/>
              <a:defRPr sz="10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2" name="Google Shape;82;p8"/>
          <p:cNvSpPr txBox="1"/>
          <p:nvPr/>
        </p:nvSpPr>
        <p:spPr>
          <a:xfrm>
            <a:off x="395472" y="4789875"/>
            <a:ext cx="1843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B81A7"/>
                </a:solidFill>
                <a:latin typeface="Inter"/>
                <a:ea typeface="Inter"/>
                <a:cs typeface="Inter"/>
                <a:sym typeface="Inter"/>
              </a:rPr>
              <a:t>HIGHLY CONFIDENTIAL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915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37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ontent Slides 1 1 1">
  <p:cSld name="3_Title Slide_1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/>
          <p:cNvSpPr txBox="1"/>
          <p:nvPr/>
        </p:nvSpPr>
        <p:spPr>
          <a:xfrm>
            <a:off x="7439480" y="287503"/>
            <a:ext cx="129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www.ltcapital.partners</a:t>
            </a:r>
            <a:endParaRPr sz="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5" name="Google Shape;85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3147" y="4515228"/>
            <a:ext cx="8317705" cy="3668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9"/>
          <p:cNvSpPr txBox="1"/>
          <p:nvPr/>
        </p:nvSpPr>
        <p:spPr>
          <a:xfrm>
            <a:off x="4365848" y="4732733"/>
            <a:ext cx="129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7B81A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9"/>
          <p:cNvSpPr txBox="1"/>
          <p:nvPr/>
        </p:nvSpPr>
        <p:spPr>
          <a:xfrm>
            <a:off x="4633934" y="4732733"/>
            <a:ext cx="129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7B81A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B81A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9"/>
          <p:cNvSpPr txBox="1"/>
          <p:nvPr/>
        </p:nvSpPr>
        <p:spPr>
          <a:xfrm>
            <a:off x="7101137" y="4789883"/>
            <a:ext cx="129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B81A7"/>
                </a:solidFill>
                <a:latin typeface="Inter"/>
                <a:ea typeface="Inter"/>
                <a:cs typeface="Inter"/>
                <a:sym typeface="Inter"/>
              </a:rPr>
              <a:t>© 2025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" name="Google Shape;89;p9"/>
          <p:cNvSpPr/>
          <p:nvPr>
            <p:ph idx="2" type="pic"/>
          </p:nvPr>
        </p:nvSpPr>
        <p:spPr>
          <a:xfrm>
            <a:off x="413156" y="1638806"/>
            <a:ext cx="4024500" cy="1953300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9"/>
          <p:cNvSpPr txBox="1"/>
          <p:nvPr>
            <p:ph idx="1" type="subTitle"/>
          </p:nvPr>
        </p:nvSpPr>
        <p:spPr>
          <a:xfrm>
            <a:off x="417994" y="3752878"/>
            <a:ext cx="4024500" cy="70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9"/>
          <p:cNvSpPr/>
          <p:nvPr>
            <p:ph idx="3" type="pic"/>
          </p:nvPr>
        </p:nvSpPr>
        <p:spPr>
          <a:xfrm>
            <a:off x="4706550" y="1638806"/>
            <a:ext cx="4024500" cy="19533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9"/>
          <p:cNvSpPr txBox="1"/>
          <p:nvPr>
            <p:ph idx="4" type="subTitle"/>
          </p:nvPr>
        </p:nvSpPr>
        <p:spPr>
          <a:xfrm>
            <a:off x="4711388" y="3752878"/>
            <a:ext cx="4024500" cy="70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93" name="Google Shape;93;p9" title="LTC_Logo_FA_Color_RGB-01.png"/>
          <p:cNvPicPr preferRelativeResize="0"/>
          <p:nvPr/>
        </p:nvPicPr>
        <p:blipFill rotWithShape="1">
          <a:blip r:embed="rId3">
            <a:alphaModFix/>
          </a:blip>
          <a:srcRect b="24811" l="9577" r="9940" t="21578"/>
          <a:stretch/>
        </p:blipFill>
        <p:spPr>
          <a:xfrm>
            <a:off x="413125" y="345075"/>
            <a:ext cx="804301" cy="2163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9"/>
          <p:cNvSpPr txBox="1"/>
          <p:nvPr>
            <p:ph type="title"/>
          </p:nvPr>
        </p:nvSpPr>
        <p:spPr>
          <a:xfrm>
            <a:off x="413119" y="622969"/>
            <a:ext cx="8317800" cy="366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b="1" sz="23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b="1" sz="23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b="1" sz="23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b="1" sz="23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b="1" sz="23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b="1" sz="23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b="1" sz="23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b="1" sz="23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5" type="subTitle"/>
          </p:nvPr>
        </p:nvSpPr>
        <p:spPr>
          <a:xfrm>
            <a:off x="413119" y="962081"/>
            <a:ext cx="8317800" cy="366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Inter SemiBold"/>
              <a:buNone/>
              <a:defRPr sz="11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 SemiBold"/>
              <a:buNone/>
              <a:defRPr sz="10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 SemiBold"/>
              <a:buNone/>
              <a:defRPr sz="10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 SemiBold"/>
              <a:buNone/>
              <a:defRPr sz="10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 SemiBold"/>
              <a:buNone/>
              <a:defRPr sz="10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 SemiBold"/>
              <a:buNone/>
              <a:defRPr sz="10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 SemiBold"/>
              <a:buNone/>
              <a:defRPr sz="10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 SemiBold"/>
              <a:buNone/>
              <a:defRPr sz="10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 SemiBold"/>
              <a:buNone/>
              <a:defRPr sz="10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6" name="Google Shape;96;p9"/>
          <p:cNvSpPr txBox="1"/>
          <p:nvPr/>
        </p:nvSpPr>
        <p:spPr>
          <a:xfrm>
            <a:off x="395472" y="4789875"/>
            <a:ext cx="1843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B81A7"/>
                </a:solidFill>
                <a:latin typeface="Inter"/>
                <a:ea typeface="Inter"/>
                <a:cs typeface="Inter"/>
                <a:sym typeface="Inter"/>
              </a:rPr>
              <a:t>HIGHLY CONFIDENTIAL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37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ontent Slides 1 1">
  <p:cSld name="3_Title Slide_1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"/>
          <p:cNvSpPr txBox="1"/>
          <p:nvPr/>
        </p:nvSpPr>
        <p:spPr>
          <a:xfrm>
            <a:off x="7439480" y="287503"/>
            <a:ext cx="129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www.ltcapital.partners</a:t>
            </a:r>
            <a:endParaRPr sz="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9" name="Google Shape;99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3147" y="4515228"/>
            <a:ext cx="8317705" cy="36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0"/>
          <p:cNvSpPr txBox="1"/>
          <p:nvPr/>
        </p:nvSpPr>
        <p:spPr>
          <a:xfrm>
            <a:off x="4365848" y="4732733"/>
            <a:ext cx="129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7B81A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0"/>
          <p:cNvSpPr txBox="1"/>
          <p:nvPr/>
        </p:nvSpPr>
        <p:spPr>
          <a:xfrm>
            <a:off x="4633934" y="4732733"/>
            <a:ext cx="129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7B81A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B81A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0"/>
          <p:cNvSpPr txBox="1"/>
          <p:nvPr/>
        </p:nvSpPr>
        <p:spPr>
          <a:xfrm>
            <a:off x="7101137" y="4789883"/>
            <a:ext cx="129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B81A7"/>
                </a:solidFill>
                <a:latin typeface="Inter"/>
                <a:ea typeface="Inter"/>
                <a:cs typeface="Inter"/>
                <a:sym typeface="Inter"/>
              </a:rPr>
              <a:t>© 2025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10"/>
          <p:cNvSpPr/>
          <p:nvPr>
            <p:ph idx="2" type="pic"/>
          </p:nvPr>
        </p:nvSpPr>
        <p:spPr>
          <a:xfrm>
            <a:off x="413156" y="1842019"/>
            <a:ext cx="2160900" cy="15801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0"/>
          <p:cNvSpPr/>
          <p:nvPr>
            <p:ph idx="3" type="pic"/>
          </p:nvPr>
        </p:nvSpPr>
        <p:spPr>
          <a:xfrm>
            <a:off x="3491513" y="1842019"/>
            <a:ext cx="2160900" cy="1580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10"/>
          <p:cNvSpPr/>
          <p:nvPr>
            <p:ph idx="4" type="pic"/>
          </p:nvPr>
        </p:nvSpPr>
        <p:spPr>
          <a:xfrm>
            <a:off x="6569869" y="1842019"/>
            <a:ext cx="2160900" cy="15801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10"/>
          <p:cNvSpPr txBox="1"/>
          <p:nvPr>
            <p:ph idx="1" type="subTitle"/>
          </p:nvPr>
        </p:nvSpPr>
        <p:spPr>
          <a:xfrm>
            <a:off x="417994" y="3627375"/>
            <a:ext cx="2160900" cy="70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"/>
          <p:cNvSpPr txBox="1"/>
          <p:nvPr>
            <p:ph idx="5" type="subTitle"/>
          </p:nvPr>
        </p:nvSpPr>
        <p:spPr>
          <a:xfrm>
            <a:off x="3491569" y="3627375"/>
            <a:ext cx="2160900" cy="70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0"/>
          <p:cNvSpPr txBox="1"/>
          <p:nvPr>
            <p:ph idx="6" type="subTitle"/>
          </p:nvPr>
        </p:nvSpPr>
        <p:spPr>
          <a:xfrm>
            <a:off x="6565144" y="3627375"/>
            <a:ext cx="2160900" cy="70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9" name="Google Shape;109;p10" title="LTC_Logo_FA_Color_RGB-01.png"/>
          <p:cNvPicPr preferRelativeResize="0"/>
          <p:nvPr/>
        </p:nvPicPr>
        <p:blipFill rotWithShape="1">
          <a:blip r:embed="rId3">
            <a:alphaModFix/>
          </a:blip>
          <a:srcRect b="24811" l="9577" r="9940" t="21578"/>
          <a:stretch/>
        </p:blipFill>
        <p:spPr>
          <a:xfrm>
            <a:off x="413125" y="345075"/>
            <a:ext cx="804301" cy="21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0"/>
          <p:cNvSpPr txBox="1"/>
          <p:nvPr>
            <p:ph type="title"/>
          </p:nvPr>
        </p:nvSpPr>
        <p:spPr>
          <a:xfrm>
            <a:off x="413119" y="622969"/>
            <a:ext cx="8317800" cy="366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b="1" sz="23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b="1" sz="23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b="1" sz="23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b="1" sz="23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b="1" sz="23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b="1" sz="23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b="1" sz="23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b="1" sz="23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1" name="Google Shape;111;p10"/>
          <p:cNvSpPr txBox="1"/>
          <p:nvPr>
            <p:ph idx="7" type="subTitle"/>
          </p:nvPr>
        </p:nvSpPr>
        <p:spPr>
          <a:xfrm>
            <a:off x="413119" y="962081"/>
            <a:ext cx="8317800" cy="366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Inter SemiBold"/>
              <a:buNone/>
              <a:defRPr sz="11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 SemiBold"/>
              <a:buNone/>
              <a:defRPr sz="10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 SemiBold"/>
              <a:buNone/>
              <a:defRPr sz="10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 SemiBold"/>
              <a:buNone/>
              <a:defRPr sz="10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 SemiBold"/>
              <a:buNone/>
              <a:defRPr sz="10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 SemiBold"/>
              <a:buNone/>
              <a:defRPr sz="10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 SemiBold"/>
              <a:buNone/>
              <a:defRPr sz="10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 SemiBold"/>
              <a:buNone/>
              <a:defRPr sz="10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 SemiBold"/>
              <a:buNone/>
              <a:defRPr sz="10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12" name="Google Shape;112;p10"/>
          <p:cNvSpPr txBox="1"/>
          <p:nvPr/>
        </p:nvSpPr>
        <p:spPr>
          <a:xfrm>
            <a:off x="395472" y="4789875"/>
            <a:ext cx="1843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B81A7"/>
                </a:solidFill>
                <a:latin typeface="Inter"/>
                <a:ea typeface="Inter"/>
                <a:cs typeface="Inter"/>
                <a:sym typeface="Inter"/>
              </a:rPr>
              <a:t>HIGHLY CONFIDENTIAL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936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37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2">
  <p:cSld name="Section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"/>
          <p:cNvSpPr txBox="1"/>
          <p:nvPr/>
        </p:nvSpPr>
        <p:spPr>
          <a:xfrm>
            <a:off x="7439480" y="287503"/>
            <a:ext cx="129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www.ltcapital.partners</a:t>
            </a:r>
            <a:endParaRPr i="0" sz="8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5" name="Google Shape;11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147" y="4515228"/>
            <a:ext cx="8317705" cy="36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1"/>
          <p:cNvSpPr txBox="1"/>
          <p:nvPr/>
        </p:nvSpPr>
        <p:spPr>
          <a:xfrm>
            <a:off x="4365848" y="4732733"/>
            <a:ext cx="129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7B81A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1"/>
          <p:cNvSpPr txBox="1"/>
          <p:nvPr/>
        </p:nvSpPr>
        <p:spPr>
          <a:xfrm>
            <a:off x="4633934" y="4732733"/>
            <a:ext cx="129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1"/>
          <p:cNvSpPr txBox="1"/>
          <p:nvPr>
            <p:ph type="title"/>
          </p:nvPr>
        </p:nvSpPr>
        <p:spPr>
          <a:xfrm>
            <a:off x="410906" y="3471038"/>
            <a:ext cx="83178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11"/>
          <p:cNvSpPr txBox="1"/>
          <p:nvPr>
            <p:ph idx="1" type="subTitle"/>
          </p:nvPr>
        </p:nvSpPr>
        <p:spPr>
          <a:xfrm>
            <a:off x="410906" y="3124350"/>
            <a:ext cx="8317800" cy="3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1"/>
          <p:cNvSpPr txBox="1"/>
          <p:nvPr/>
        </p:nvSpPr>
        <p:spPr>
          <a:xfrm>
            <a:off x="395472" y="4789875"/>
            <a:ext cx="1843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HIGHLY CONFIDENTIAL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" name="Google Shape;121;p11"/>
          <p:cNvSpPr txBox="1"/>
          <p:nvPr/>
        </p:nvSpPr>
        <p:spPr>
          <a:xfrm>
            <a:off x="7101137" y="4789883"/>
            <a:ext cx="129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© 2025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2" name="Google Shape;122;p11" title="LTC_Logo_FA_Color_RGB-01.png"/>
          <p:cNvPicPr preferRelativeResize="0"/>
          <p:nvPr/>
        </p:nvPicPr>
        <p:blipFill rotWithShape="1">
          <a:blip r:embed="rId4">
            <a:alphaModFix/>
          </a:blip>
          <a:srcRect b="24811" l="9577" r="9940" t="21578"/>
          <a:stretch/>
        </p:blipFill>
        <p:spPr>
          <a:xfrm>
            <a:off x="413125" y="345075"/>
            <a:ext cx="804301" cy="21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able Of Content">
  <p:cSld name="1_Table Of Conten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2"/>
          <p:cNvSpPr/>
          <p:nvPr/>
        </p:nvSpPr>
        <p:spPr>
          <a:xfrm>
            <a:off x="0" y="0"/>
            <a:ext cx="4008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2"/>
          <p:cNvSpPr txBox="1"/>
          <p:nvPr>
            <p:ph type="title"/>
          </p:nvPr>
        </p:nvSpPr>
        <p:spPr>
          <a:xfrm>
            <a:off x="432169" y="984769"/>
            <a:ext cx="2697900" cy="303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12"/>
          <p:cNvSpPr txBox="1"/>
          <p:nvPr/>
        </p:nvSpPr>
        <p:spPr>
          <a:xfrm>
            <a:off x="7439480" y="287503"/>
            <a:ext cx="129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www.ltcapital.partners</a:t>
            </a:r>
            <a:endParaRPr i="0" sz="8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7" name="Google Shape;12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3147" y="4515228"/>
            <a:ext cx="8317705" cy="36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2"/>
          <p:cNvSpPr txBox="1"/>
          <p:nvPr/>
        </p:nvSpPr>
        <p:spPr>
          <a:xfrm>
            <a:off x="4365848" y="4732733"/>
            <a:ext cx="129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7B81A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2"/>
          <p:cNvSpPr txBox="1"/>
          <p:nvPr/>
        </p:nvSpPr>
        <p:spPr>
          <a:xfrm>
            <a:off x="4633934" y="4732733"/>
            <a:ext cx="129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7B81A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B81A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2"/>
          <p:cNvSpPr txBox="1"/>
          <p:nvPr>
            <p:ph idx="1" type="subTitle"/>
          </p:nvPr>
        </p:nvSpPr>
        <p:spPr>
          <a:xfrm>
            <a:off x="4732594" y="984769"/>
            <a:ext cx="1843800" cy="50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rgbClr val="69C7CC"/>
              </a:buClr>
              <a:buSzPts val="1100"/>
              <a:buNone/>
              <a:defRPr b="1" sz="1100">
                <a:solidFill>
                  <a:srgbClr val="69C7CC"/>
                </a:solidFill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rgbClr val="69C7CC"/>
              </a:buClr>
              <a:buSzPts val="1400"/>
              <a:buNone/>
              <a:defRPr>
                <a:solidFill>
                  <a:srgbClr val="69C7CC"/>
                </a:solidFill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rgbClr val="69C7CC"/>
              </a:buClr>
              <a:buSzPts val="1200"/>
              <a:buNone/>
              <a:defRPr>
                <a:solidFill>
                  <a:srgbClr val="69C7CC"/>
                </a:solidFill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rgbClr val="69C7CC"/>
              </a:buClr>
              <a:buSzPts val="1100"/>
              <a:buNone/>
              <a:defRPr>
                <a:solidFill>
                  <a:srgbClr val="69C7CC"/>
                </a:solidFill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rgbClr val="69C7CC"/>
              </a:buClr>
              <a:buSzPts val="1100"/>
              <a:buNone/>
              <a:defRPr>
                <a:solidFill>
                  <a:srgbClr val="69C7CC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rgbClr val="69C7CC"/>
              </a:buClr>
              <a:buSzPts val="1400"/>
              <a:buNone/>
              <a:defRPr>
                <a:solidFill>
                  <a:srgbClr val="69C7CC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rgbClr val="69C7CC"/>
              </a:buClr>
              <a:buSzPts val="1400"/>
              <a:buNone/>
              <a:defRPr>
                <a:solidFill>
                  <a:srgbClr val="69C7CC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69C7CC"/>
              </a:buClr>
              <a:buSzPts val="1400"/>
              <a:buNone/>
              <a:defRPr>
                <a:solidFill>
                  <a:srgbClr val="69C7CC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rgbClr val="69C7CC"/>
              </a:buClr>
              <a:buSzPts val="1400"/>
              <a:buNone/>
              <a:defRPr>
                <a:solidFill>
                  <a:srgbClr val="69C7CC"/>
                </a:solidFill>
              </a:defRPr>
            </a:lvl9pPr>
          </a:lstStyle>
          <a:p/>
        </p:txBody>
      </p:sp>
      <p:sp>
        <p:nvSpPr>
          <p:cNvPr id="131" name="Google Shape;131;p12"/>
          <p:cNvSpPr txBox="1"/>
          <p:nvPr>
            <p:ph idx="2" type="subTitle"/>
          </p:nvPr>
        </p:nvSpPr>
        <p:spPr>
          <a:xfrm>
            <a:off x="7750669" y="984769"/>
            <a:ext cx="978900" cy="50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lvl="1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2"/>
          <p:cNvSpPr txBox="1"/>
          <p:nvPr>
            <p:ph idx="3" type="subTitle"/>
          </p:nvPr>
        </p:nvSpPr>
        <p:spPr>
          <a:xfrm>
            <a:off x="4732594" y="1813681"/>
            <a:ext cx="1843800" cy="50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rgbClr val="69C7CC"/>
              </a:buClr>
              <a:buSzPts val="1100"/>
              <a:buNone/>
              <a:defRPr b="1" sz="1100">
                <a:solidFill>
                  <a:srgbClr val="69C7CC"/>
                </a:solidFill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rgbClr val="69C7CC"/>
              </a:buClr>
              <a:buSzPts val="1400"/>
              <a:buNone/>
              <a:defRPr>
                <a:solidFill>
                  <a:srgbClr val="69C7CC"/>
                </a:solidFill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rgbClr val="69C7CC"/>
              </a:buClr>
              <a:buSzPts val="1200"/>
              <a:buNone/>
              <a:defRPr>
                <a:solidFill>
                  <a:srgbClr val="69C7CC"/>
                </a:solidFill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rgbClr val="69C7CC"/>
              </a:buClr>
              <a:buSzPts val="1100"/>
              <a:buNone/>
              <a:defRPr>
                <a:solidFill>
                  <a:srgbClr val="69C7CC"/>
                </a:solidFill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rgbClr val="69C7CC"/>
              </a:buClr>
              <a:buSzPts val="1100"/>
              <a:buNone/>
              <a:defRPr>
                <a:solidFill>
                  <a:srgbClr val="69C7CC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rgbClr val="69C7CC"/>
              </a:buClr>
              <a:buSzPts val="1400"/>
              <a:buNone/>
              <a:defRPr>
                <a:solidFill>
                  <a:srgbClr val="69C7CC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rgbClr val="69C7CC"/>
              </a:buClr>
              <a:buSzPts val="1400"/>
              <a:buNone/>
              <a:defRPr>
                <a:solidFill>
                  <a:srgbClr val="69C7CC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69C7CC"/>
              </a:buClr>
              <a:buSzPts val="1400"/>
              <a:buNone/>
              <a:defRPr>
                <a:solidFill>
                  <a:srgbClr val="69C7CC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rgbClr val="69C7CC"/>
              </a:buClr>
              <a:buSzPts val="1400"/>
              <a:buNone/>
              <a:defRPr>
                <a:solidFill>
                  <a:srgbClr val="69C7CC"/>
                </a:solidFill>
              </a:defRPr>
            </a:lvl9pPr>
          </a:lstStyle>
          <a:p/>
        </p:txBody>
      </p:sp>
      <p:sp>
        <p:nvSpPr>
          <p:cNvPr id="133" name="Google Shape;133;p12"/>
          <p:cNvSpPr txBox="1"/>
          <p:nvPr>
            <p:ph idx="4" type="subTitle"/>
          </p:nvPr>
        </p:nvSpPr>
        <p:spPr>
          <a:xfrm>
            <a:off x="7750669" y="1813681"/>
            <a:ext cx="978900" cy="50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lvl="1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2"/>
          <p:cNvSpPr txBox="1"/>
          <p:nvPr>
            <p:ph idx="5" type="subTitle"/>
          </p:nvPr>
        </p:nvSpPr>
        <p:spPr>
          <a:xfrm>
            <a:off x="4732594" y="2642594"/>
            <a:ext cx="1843800" cy="50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rgbClr val="69C7CC"/>
              </a:buClr>
              <a:buSzPts val="1100"/>
              <a:buNone/>
              <a:defRPr b="1" sz="1100">
                <a:solidFill>
                  <a:srgbClr val="69C7CC"/>
                </a:solidFill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rgbClr val="69C7CC"/>
              </a:buClr>
              <a:buSzPts val="1400"/>
              <a:buNone/>
              <a:defRPr>
                <a:solidFill>
                  <a:srgbClr val="69C7CC"/>
                </a:solidFill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rgbClr val="69C7CC"/>
              </a:buClr>
              <a:buSzPts val="1200"/>
              <a:buNone/>
              <a:defRPr>
                <a:solidFill>
                  <a:srgbClr val="69C7CC"/>
                </a:solidFill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rgbClr val="69C7CC"/>
              </a:buClr>
              <a:buSzPts val="1100"/>
              <a:buNone/>
              <a:defRPr>
                <a:solidFill>
                  <a:srgbClr val="69C7CC"/>
                </a:solidFill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rgbClr val="69C7CC"/>
              </a:buClr>
              <a:buSzPts val="1100"/>
              <a:buNone/>
              <a:defRPr>
                <a:solidFill>
                  <a:srgbClr val="69C7CC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rgbClr val="69C7CC"/>
              </a:buClr>
              <a:buSzPts val="1400"/>
              <a:buNone/>
              <a:defRPr>
                <a:solidFill>
                  <a:srgbClr val="69C7CC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rgbClr val="69C7CC"/>
              </a:buClr>
              <a:buSzPts val="1400"/>
              <a:buNone/>
              <a:defRPr>
                <a:solidFill>
                  <a:srgbClr val="69C7CC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69C7CC"/>
              </a:buClr>
              <a:buSzPts val="1400"/>
              <a:buNone/>
              <a:defRPr>
                <a:solidFill>
                  <a:srgbClr val="69C7CC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rgbClr val="69C7CC"/>
              </a:buClr>
              <a:buSzPts val="1400"/>
              <a:buNone/>
              <a:defRPr>
                <a:solidFill>
                  <a:srgbClr val="69C7CC"/>
                </a:solidFill>
              </a:defRPr>
            </a:lvl9pPr>
          </a:lstStyle>
          <a:p/>
        </p:txBody>
      </p:sp>
      <p:sp>
        <p:nvSpPr>
          <p:cNvPr id="135" name="Google Shape;135;p12"/>
          <p:cNvSpPr txBox="1"/>
          <p:nvPr>
            <p:ph idx="6" type="subTitle"/>
          </p:nvPr>
        </p:nvSpPr>
        <p:spPr>
          <a:xfrm>
            <a:off x="7750669" y="2642594"/>
            <a:ext cx="978900" cy="50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lvl="1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2"/>
          <p:cNvSpPr txBox="1"/>
          <p:nvPr>
            <p:ph idx="7" type="subTitle"/>
          </p:nvPr>
        </p:nvSpPr>
        <p:spPr>
          <a:xfrm>
            <a:off x="4732594" y="3471506"/>
            <a:ext cx="1843800" cy="50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rgbClr val="69C7CC"/>
              </a:buClr>
              <a:buSzPts val="1100"/>
              <a:buNone/>
              <a:defRPr b="1" sz="1100">
                <a:solidFill>
                  <a:srgbClr val="69C7CC"/>
                </a:solidFill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rgbClr val="69C7CC"/>
              </a:buClr>
              <a:buSzPts val="1400"/>
              <a:buNone/>
              <a:defRPr>
                <a:solidFill>
                  <a:srgbClr val="69C7CC"/>
                </a:solidFill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rgbClr val="69C7CC"/>
              </a:buClr>
              <a:buSzPts val="1200"/>
              <a:buNone/>
              <a:defRPr>
                <a:solidFill>
                  <a:srgbClr val="69C7CC"/>
                </a:solidFill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rgbClr val="69C7CC"/>
              </a:buClr>
              <a:buSzPts val="1100"/>
              <a:buNone/>
              <a:defRPr>
                <a:solidFill>
                  <a:srgbClr val="69C7CC"/>
                </a:solidFill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rgbClr val="69C7CC"/>
              </a:buClr>
              <a:buSzPts val="1100"/>
              <a:buNone/>
              <a:defRPr>
                <a:solidFill>
                  <a:srgbClr val="69C7CC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rgbClr val="69C7CC"/>
              </a:buClr>
              <a:buSzPts val="1400"/>
              <a:buNone/>
              <a:defRPr>
                <a:solidFill>
                  <a:srgbClr val="69C7CC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rgbClr val="69C7CC"/>
              </a:buClr>
              <a:buSzPts val="1400"/>
              <a:buNone/>
              <a:defRPr>
                <a:solidFill>
                  <a:srgbClr val="69C7CC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69C7CC"/>
              </a:buClr>
              <a:buSzPts val="1400"/>
              <a:buNone/>
              <a:defRPr>
                <a:solidFill>
                  <a:srgbClr val="69C7CC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rgbClr val="69C7CC"/>
              </a:buClr>
              <a:buSzPts val="1400"/>
              <a:buNone/>
              <a:defRPr>
                <a:solidFill>
                  <a:srgbClr val="69C7CC"/>
                </a:solidFill>
              </a:defRPr>
            </a:lvl9pPr>
          </a:lstStyle>
          <a:p/>
        </p:txBody>
      </p:sp>
      <p:sp>
        <p:nvSpPr>
          <p:cNvPr id="137" name="Google Shape;137;p12"/>
          <p:cNvSpPr txBox="1"/>
          <p:nvPr>
            <p:ph idx="8" type="subTitle"/>
          </p:nvPr>
        </p:nvSpPr>
        <p:spPr>
          <a:xfrm>
            <a:off x="7750669" y="3471506"/>
            <a:ext cx="978900" cy="50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lvl="1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8" name="Google Shape;138;p12" title="LTC_Logo_FA_Color_RGB-01.png"/>
          <p:cNvPicPr preferRelativeResize="0"/>
          <p:nvPr/>
        </p:nvPicPr>
        <p:blipFill rotWithShape="1">
          <a:blip r:embed="rId3">
            <a:alphaModFix/>
          </a:blip>
          <a:srcRect b="24811" l="9577" r="9940" t="21578"/>
          <a:stretch/>
        </p:blipFill>
        <p:spPr>
          <a:xfrm>
            <a:off x="413150" y="357200"/>
            <a:ext cx="804301" cy="21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2"/>
          <p:cNvSpPr txBox="1"/>
          <p:nvPr/>
        </p:nvSpPr>
        <p:spPr>
          <a:xfrm>
            <a:off x="395472" y="4789875"/>
            <a:ext cx="1843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B81A7"/>
                </a:solidFill>
                <a:latin typeface="Inter"/>
                <a:ea typeface="Inter"/>
                <a:cs typeface="Inter"/>
                <a:sym typeface="Inter"/>
              </a:rPr>
              <a:t>HIGHLY CONFIDENTIAL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" name="Google Shape;140;p12"/>
          <p:cNvSpPr txBox="1"/>
          <p:nvPr/>
        </p:nvSpPr>
        <p:spPr>
          <a:xfrm>
            <a:off x="7101137" y="4789883"/>
            <a:ext cx="129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B81A7"/>
                </a:solidFill>
                <a:latin typeface="Inter"/>
                <a:ea typeface="Inter"/>
                <a:cs typeface="Inter"/>
                <a:sym typeface="Inter"/>
              </a:rPr>
              <a:t>© 2025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 amt="60000"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3147" y="899593"/>
            <a:ext cx="83178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i="0" sz="3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06956" y="1595606"/>
            <a:ext cx="8317800" cy="30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D4448"/>
              </a:buClr>
              <a:buSzPts val="1500"/>
              <a:buFont typeface="Inter"/>
              <a:buChar char="•"/>
              <a:defRPr i="0" sz="1500" u="none" cap="none" strike="noStrike">
                <a:solidFill>
                  <a:srgbClr val="1D4448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4448"/>
              </a:buClr>
              <a:buSzPts val="1400"/>
              <a:buFont typeface="Inter"/>
              <a:buChar char="•"/>
              <a:defRPr i="0" sz="1400" u="none" cap="none" strike="noStrike">
                <a:solidFill>
                  <a:srgbClr val="1D4448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4448"/>
              </a:buClr>
              <a:buSzPts val="1200"/>
              <a:buFont typeface="Inter"/>
              <a:buChar char="•"/>
              <a:defRPr i="0" sz="1200" u="none" cap="none" strike="noStrike">
                <a:solidFill>
                  <a:srgbClr val="1D4448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4448"/>
              </a:buClr>
              <a:buSzPts val="1100"/>
              <a:buFont typeface="Inter"/>
              <a:buChar char="•"/>
              <a:defRPr i="0" sz="1100" u="none" cap="none" strike="noStrike">
                <a:solidFill>
                  <a:srgbClr val="1D4448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9845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D4448"/>
              </a:buClr>
              <a:buSzPts val="1100"/>
              <a:buFont typeface="Inter"/>
              <a:buChar char="•"/>
              <a:defRPr i="0" sz="1100" u="none" cap="none" strike="noStrike">
                <a:solidFill>
                  <a:srgbClr val="1D4448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•"/>
              <a:defRPr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•"/>
              <a:defRPr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•"/>
              <a:defRPr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•"/>
              <a:defRPr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-1197700" y="457848"/>
            <a:ext cx="1090500" cy="1458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4448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1D44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D4448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1D44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D4448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1D44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D4448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1D44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D4448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1D44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1"/>
          <p:cNvSpPr/>
          <p:nvPr/>
        </p:nvSpPr>
        <p:spPr>
          <a:xfrm>
            <a:off x="-1121352" y="526776"/>
            <a:ext cx="946200" cy="23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HEX: #1D1F2A</a:t>
            </a:r>
            <a:endParaRPr b="1" i="0" sz="8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" name="Google Shape;10;p1"/>
          <p:cNvSpPr/>
          <p:nvPr/>
        </p:nvSpPr>
        <p:spPr>
          <a:xfrm>
            <a:off x="-1121352" y="794412"/>
            <a:ext cx="946200" cy="23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HEX: #B7DDE1</a:t>
            </a:r>
            <a:endParaRPr b="1" i="0" sz="8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-1121352" y="1062048"/>
            <a:ext cx="946200" cy="238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HEX: #004851</a:t>
            </a:r>
            <a:endParaRPr b="1" i="0" sz="8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-1122837" y="1329684"/>
            <a:ext cx="946200" cy="23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HEX: #F2C75C</a:t>
            </a:r>
            <a:endParaRPr b="1" i="0" sz="8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-1124322" y="1600240"/>
            <a:ext cx="946200" cy="238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HEX: #9B1842</a:t>
            </a:r>
            <a:endParaRPr b="1" i="0" sz="8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-1197700" y="2046119"/>
            <a:ext cx="1090500" cy="1458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4448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1D44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D4448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1D44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D4448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1D44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D4448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1D44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D4448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1D44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-1121352" y="2115047"/>
            <a:ext cx="946200" cy="238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HEX: #69994D</a:t>
            </a:r>
            <a:endParaRPr b="1" i="0" sz="8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-1121352" y="2382683"/>
            <a:ext cx="946200" cy="238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HEX: #653469</a:t>
            </a:r>
            <a:endParaRPr b="1" i="0" sz="8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-1121352" y="2650319"/>
            <a:ext cx="946200" cy="238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HEX: #E87299</a:t>
            </a:r>
            <a:endParaRPr b="1" i="0" sz="8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-1122837" y="2917955"/>
            <a:ext cx="946200" cy="238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HEX: #FF9D3B</a:t>
            </a:r>
            <a:endParaRPr b="1" i="0" sz="8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-1124322" y="3188511"/>
            <a:ext cx="946200" cy="238200"/>
          </a:xfrm>
          <a:prstGeom prst="rect">
            <a:avLst/>
          </a:prstGeom>
          <a:solidFill>
            <a:srgbClr val="69C7CC"/>
          </a:solidFill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HEX: #69C7CC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-1270243" y="6104"/>
            <a:ext cx="1240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7B81A7"/>
                </a:solidFill>
                <a:latin typeface="Inter"/>
                <a:ea typeface="Inter"/>
                <a:cs typeface="Inter"/>
                <a:sym typeface="Inter"/>
              </a:rPr>
              <a:t>LTC Color Palette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7B81A7"/>
                </a:solidFill>
                <a:latin typeface="Inter"/>
                <a:ea typeface="Inter"/>
                <a:cs typeface="Inter"/>
                <a:sym typeface="Inter"/>
              </a:rPr>
              <a:t>(Not displayed)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" name="Google Shape;21;p1"/>
          <p:cNvSpPr txBox="1"/>
          <p:nvPr/>
        </p:nvSpPr>
        <p:spPr>
          <a:xfrm rot="-5400000">
            <a:off x="-1849373" y="1077201"/>
            <a:ext cx="104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7B81A7"/>
                </a:solidFill>
                <a:latin typeface="Arial"/>
                <a:ea typeface="Arial"/>
                <a:cs typeface="Arial"/>
                <a:sym typeface="Arial"/>
              </a:rPr>
              <a:t>Primary</a:t>
            </a:r>
            <a:endParaRPr b="0" i="0" sz="1100" u="none" cap="none" strike="noStrike">
              <a:solidFill>
                <a:srgbClr val="7B81A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 txBox="1"/>
          <p:nvPr/>
        </p:nvSpPr>
        <p:spPr>
          <a:xfrm rot="-5400000">
            <a:off x="-2151773" y="2661920"/>
            <a:ext cx="1647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7B81A7"/>
                </a:solidFill>
                <a:latin typeface="Arial"/>
                <a:ea typeface="Arial"/>
                <a:cs typeface="Arial"/>
                <a:sym typeface="Arial"/>
              </a:rPr>
              <a:t>Secondary</a:t>
            </a:r>
            <a:endParaRPr b="0" i="0" sz="900" u="none" cap="none" strike="noStrike">
              <a:solidFill>
                <a:srgbClr val="7B81A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" name="Google Shape;23;p1"/>
          <p:cNvCxnSpPr/>
          <p:nvPr/>
        </p:nvCxnSpPr>
        <p:spPr>
          <a:xfrm>
            <a:off x="-1124323" y="338687"/>
            <a:ext cx="949200" cy="0"/>
          </a:xfrm>
          <a:prstGeom prst="straightConnector1">
            <a:avLst/>
          </a:prstGeom>
          <a:noFill/>
          <a:ln cap="flat" cmpd="sng" w="9525">
            <a:solidFill>
              <a:srgbClr val="7B81A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" name="Google Shape;24;p1"/>
          <p:cNvSpPr txBox="1"/>
          <p:nvPr/>
        </p:nvSpPr>
        <p:spPr>
          <a:xfrm>
            <a:off x="-3446750" y="460325"/>
            <a:ext cx="2015100" cy="219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B81A7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7B81A7"/>
                </a:solidFill>
                <a:latin typeface="Inter"/>
                <a:ea typeface="Inter"/>
                <a:cs typeface="Inter"/>
                <a:sym typeface="Inter"/>
              </a:rPr>
              <a:t>Typeface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Inter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B81A7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7B81A7"/>
                </a:solidFill>
                <a:latin typeface="Inter"/>
                <a:ea typeface="Inter"/>
                <a:cs typeface="Inter"/>
                <a:sym typeface="Inter"/>
              </a:rPr>
              <a:t>Recommended Type Hierarchy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B81A7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7B81A7"/>
                </a:solidFill>
                <a:latin typeface="Inter"/>
                <a:ea typeface="Inter"/>
                <a:cs typeface="Inter"/>
                <a:sym typeface="Inter"/>
              </a:rPr>
              <a:t>50pt </a:t>
            </a:r>
            <a:r>
              <a:rPr i="0" lang="en" sz="3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Headlines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B81A7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7B81A7"/>
                </a:solidFill>
                <a:latin typeface="Inter"/>
                <a:ea typeface="Inter"/>
                <a:cs typeface="Inter"/>
                <a:sym typeface="Inter"/>
              </a:rPr>
              <a:t>20pt </a:t>
            </a:r>
            <a:r>
              <a:rPr i="0" lang="en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Sub-Title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B81A7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7B81A7"/>
                </a:solidFill>
                <a:latin typeface="Inter"/>
                <a:ea typeface="Inter"/>
                <a:cs typeface="Inter"/>
                <a:sym typeface="Inter"/>
              </a:rPr>
              <a:t>16pt </a:t>
            </a:r>
            <a:r>
              <a:rPr i="0" lang="en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BODY TITLE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B81A7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7B81A7"/>
                </a:solidFill>
                <a:latin typeface="Inter"/>
                <a:ea typeface="Inter"/>
                <a:cs typeface="Inter"/>
                <a:sym typeface="Inter"/>
              </a:rPr>
              <a:t>12pt </a:t>
            </a:r>
            <a:r>
              <a:rPr i="0" lang="en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Body Text</a:t>
            </a:r>
            <a:endParaRPr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-3027033" y="10939"/>
            <a:ext cx="1240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7B81A7"/>
                </a:solidFill>
                <a:latin typeface="Inter"/>
                <a:ea typeface="Inter"/>
                <a:cs typeface="Inter"/>
                <a:sym typeface="Inter"/>
              </a:rPr>
              <a:t>LTC Typography</a:t>
            </a:r>
            <a:endParaRPr i="0" sz="900" u="none" cap="none" strike="noStrike">
              <a:solidFill>
                <a:srgbClr val="7B81A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7B81A7"/>
                </a:solidFill>
                <a:latin typeface="Inter"/>
                <a:ea typeface="Inter"/>
                <a:cs typeface="Inter"/>
                <a:sym typeface="Inter"/>
              </a:rPr>
              <a:t>(Not displayed)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6" name="Google Shape;26;p1"/>
          <p:cNvCxnSpPr/>
          <p:nvPr/>
        </p:nvCxnSpPr>
        <p:spPr>
          <a:xfrm>
            <a:off x="-2881111" y="338687"/>
            <a:ext cx="949200" cy="0"/>
          </a:xfrm>
          <a:prstGeom prst="straightConnector1">
            <a:avLst/>
          </a:prstGeom>
          <a:noFill/>
          <a:ln cap="flat" cmpd="sng" w="9525">
            <a:solidFill>
              <a:srgbClr val="7B81A7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60">
          <p15:clr>
            <a:srgbClr val="F26B43"/>
          </p15:clr>
        </p15:guide>
        <p15:guide id="2" pos="5500">
          <p15:clr>
            <a:srgbClr val="F26B43"/>
          </p15:clr>
        </p15:guide>
        <p15:guide id="3" orient="horz" pos="225">
          <p15:clr>
            <a:srgbClr val="F26B43"/>
          </p15:clr>
        </p15:guide>
        <p15:guide id="4" orient="horz" pos="3015">
          <p15:clr>
            <a:srgbClr val="F26B43"/>
          </p15:clr>
        </p15:guide>
        <p15:guide id="5" pos="1451">
          <p15:clr>
            <a:srgbClr val="F26B43"/>
          </p15:clr>
        </p15:guide>
        <p15:guide id="6" pos="1621">
          <p15:clr>
            <a:srgbClr val="F26B43"/>
          </p15:clr>
        </p15:guide>
        <p15:guide id="7" pos="2795">
          <p15:clr>
            <a:srgbClr val="F26B43"/>
          </p15:clr>
        </p15:guide>
        <p15:guide id="8" pos="2965">
          <p15:clr>
            <a:srgbClr val="F26B43"/>
          </p15:clr>
        </p15:guide>
        <p15:guide id="9" pos="4139">
          <p15:clr>
            <a:srgbClr val="F26B43"/>
          </p15:clr>
        </p15:guide>
        <p15:guide id="10" pos="430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"/>
          <p:cNvSpPr txBox="1"/>
          <p:nvPr>
            <p:ph type="title"/>
          </p:nvPr>
        </p:nvSpPr>
        <p:spPr>
          <a:xfrm>
            <a:off x="410906" y="2189175"/>
            <a:ext cx="4161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46" name="Google Shape;146;p13"/>
          <p:cNvSpPr txBox="1"/>
          <p:nvPr>
            <p:ph idx="1" type="subTitle"/>
          </p:nvPr>
        </p:nvSpPr>
        <p:spPr>
          <a:xfrm>
            <a:off x="413156" y="3131475"/>
            <a:ext cx="4019400" cy="48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"/>
          <p:cNvSpPr txBox="1"/>
          <p:nvPr>
            <p:ph type="title"/>
          </p:nvPr>
        </p:nvSpPr>
        <p:spPr>
          <a:xfrm>
            <a:off x="413119" y="622969"/>
            <a:ext cx="8317800" cy="366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4"/>
          <p:cNvSpPr txBox="1"/>
          <p:nvPr>
            <p:ph idx="1" type="subTitle"/>
          </p:nvPr>
        </p:nvSpPr>
        <p:spPr>
          <a:xfrm>
            <a:off x="413119" y="962081"/>
            <a:ext cx="8317800" cy="366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4"/>
          <p:cNvSpPr txBox="1"/>
          <p:nvPr>
            <p:ph idx="2" type="body"/>
          </p:nvPr>
        </p:nvSpPr>
        <p:spPr>
          <a:xfrm>
            <a:off x="432175" y="1456663"/>
            <a:ext cx="8297700" cy="28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"/>
          <p:cNvSpPr txBox="1"/>
          <p:nvPr>
            <p:ph type="title"/>
          </p:nvPr>
        </p:nvSpPr>
        <p:spPr>
          <a:xfrm>
            <a:off x="413119" y="622969"/>
            <a:ext cx="8317800" cy="366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Logo</a:t>
            </a:r>
            <a:endParaRPr/>
          </a:p>
        </p:txBody>
      </p:sp>
      <p:pic>
        <p:nvPicPr>
          <p:cNvPr id="160" name="Google Shape;160;p15" title="LTC_Logo_FA_Color_RGB-02.png"/>
          <p:cNvPicPr preferRelativeResize="0"/>
          <p:nvPr/>
        </p:nvPicPr>
        <p:blipFill rotWithShape="1">
          <a:blip r:embed="rId3">
            <a:alphaModFix/>
          </a:blip>
          <a:srcRect b="23261" l="9448" r="9659" t="19992"/>
          <a:stretch/>
        </p:blipFill>
        <p:spPr>
          <a:xfrm>
            <a:off x="428275" y="2301386"/>
            <a:ext cx="1715692" cy="486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5" title="LTC_Logo_FA_Color_RGB-01.png"/>
          <p:cNvPicPr preferRelativeResize="0"/>
          <p:nvPr/>
        </p:nvPicPr>
        <p:blipFill rotWithShape="1">
          <a:blip r:embed="rId4">
            <a:alphaModFix/>
          </a:blip>
          <a:srcRect b="23191" l="9453" r="9817" t="20178"/>
          <a:stretch/>
        </p:blipFill>
        <p:spPr>
          <a:xfrm>
            <a:off x="428275" y="1553825"/>
            <a:ext cx="1715656" cy="486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5" title="LTC_Logomark_FA_Color_RGB-0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23308" y="2342781"/>
            <a:ext cx="444618" cy="444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5" title="LTC_Logomark_FA_Color_RGB-05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24621" y="1553825"/>
            <a:ext cx="441990" cy="44199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5"/>
          <p:cNvSpPr txBox="1"/>
          <p:nvPr>
            <p:ph idx="4294967295" type="subTitle"/>
          </p:nvPr>
        </p:nvSpPr>
        <p:spPr>
          <a:xfrm>
            <a:off x="413119" y="962081"/>
            <a:ext cx="8317800" cy="3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For Reference</a:t>
            </a:r>
            <a:endParaRPr/>
          </a:p>
        </p:txBody>
      </p:sp>
      <p:sp>
        <p:nvSpPr>
          <p:cNvPr id="165" name="Google Shape;165;p15"/>
          <p:cNvSpPr txBox="1"/>
          <p:nvPr>
            <p:ph idx="5" type="subTitle"/>
          </p:nvPr>
        </p:nvSpPr>
        <p:spPr>
          <a:xfrm>
            <a:off x="413119" y="962081"/>
            <a:ext cx="8317800" cy="366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LTC PPT Theme Colors">
      <a:dk1>
        <a:srgbClr val="1D1F2A"/>
      </a:dk1>
      <a:lt1>
        <a:srgbClr val="FFFFFF"/>
      </a:lt1>
      <a:dk2>
        <a:srgbClr val="004851"/>
      </a:dk2>
      <a:lt2>
        <a:srgbClr val="B7DDE1"/>
      </a:lt2>
      <a:accent1>
        <a:srgbClr val="F2C75C"/>
      </a:accent1>
      <a:accent2>
        <a:srgbClr val="9B1842"/>
      </a:accent2>
      <a:accent3>
        <a:srgbClr val="69994D"/>
      </a:accent3>
      <a:accent4>
        <a:srgbClr val="653469"/>
      </a:accent4>
      <a:accent5>
        <a:srgbClr val="E87299"/>
      </a:accent5>
      <a:accent6>
        <a:srgbClr val="FF9D3B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